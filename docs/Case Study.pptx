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Century Gothic Paneuropean Bold" charset="1" panose="020B0702020202020204"/>
      <p:regular r:id="rId16"/>
    </p:embeddedFont>
    <p:embeddedFont>
      <p:font typeface="Century Gothic Paneuropean" charset="1" panose="020B0502020202020204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8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131648" y="3664311"/>
            <a:ext cx="14028129" cy="22811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91"/>
              </a:lnSpc>
            </a:pPr>
            <a:r>
              <a:rPr lang="en-US" b="true" sz="6565">
                <a:solidFill>
                  <a:srgbClr val="494848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 BLOCKCHAIN AND THE FUTURE OF DIGITAL IDENTITY MANAGEMENT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2213911" y="7520337"/>
            <a:ext cx="7772440" cy="1952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82"/>
              </a:lnSpc>
            </a:pPr>
            <a:r>
              <a:rPr lang="en-US" sz="563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Sanika Jadhav D11AD-B/21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2319613" y="1303439"/>
            <a:ext cx="13018493" cy="1160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519"/>
              </a:lnSpc>
              <a:spcBef>
                <a:spcPct val="0"/>
              </a:spcBef>
            </a:pPr>
            <a:r>
              <a:rPr lang="en-US" b="true" sz="6799" strike="noStrike" u="none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CASE STUDY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494848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2988172" y="6355873"/>
            <a:ext cx="3191205" cy="2058327"/>
          </a:xfrm>
          <a:custGeom>
            <a:avLst/>
            <a:gdLst/>
            <a:ahLst/>
            <a:cxnLst/>
            <a:rect r="r" b="b" t="t" l="l"/>
            <a:pathLst>
              <a:path h="2058327" w="3191205">
                <a:moveTo>
                  <a:pt x="0" y="0"/>
                </a:moveTo>
                <a:lnTo>
                  <a:pt x="3191206" y="0"/>
                </a:lnTo>
                <a:lnTo>
                  <a:pt x="3191206" y="2058327"/>
                </a:lnTo>
                <a:lnTo>
                  <a:pt x="0" y="20583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4875411" y="442522"/>
            <a:ext cx="8537178" cy="1392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69"/>
              </a:lnSpc>
            </a:pPr>
            <a:r>
              <a:rPr lang="en-US" b="true" sz="8192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INTRODUCTION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3216941" y="2524831"/>
            <a:ext cx="2342170" cy="2755495"/>
          </a:xfrm>
          <a:custGeom>
            <a:avLst/>
            <a:gdLst/>
            <a:ahLst/>
            <a:cxnLst/>
            <a:rect r="r" b="b" t="t" l="l"/>
            <a:pathLst>
              <a:path h="2755495" w="2342170">
                <a:moveTo>
                  <a:pt x="0" y="0"/>
                </a:moveTo>
                <a:lnTo>
                  <a:pt x="2342170" y="0"/>
                </a:lnTo>
                <a:lnTo>
                  <a:pt x="2342170" y="2755494"/>
                </a:lnTo>
                <a:lnTo>
                  <a:pt x="0" y="275549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906708" y="2622842"/>
            <a:ext cx="10885715" cy="29250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76"/>
              </a:lnSpc>
            </a:pPr>
          </a:p>
          <a:p>
            <a:pPr algn="l">
              <a:lnSpc>
                <a:spcPts val="4676"/>
              </a:lnSpc>
            </a:pPr>
            <a:r>
              <a:rPr lang="en-US" sz="33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Identity Management (IDM) is the framework for managing digital identities, ensuring the right individuals access the right resources.</a:t>
            </a:r>
          </a:p>
          <a:p>
            <a:pPr algn="ctr">
              <a:lnSpc>
                <a:spcPts val="4676"/>
              </a:lnSpc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1189695" y="2457781"/>
            <a:ext cx="12776558" cy="1243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64343" indent="-382171" lvl="1">
              <a:lnSpc>
                <a:spcPts val="4956"/>
              </a:lnSpc>
              <a:buFont typeface="Arial"/>
              <a:buChar char="•"/>
            </a:pPr>
            <a:r>
              <a:rPr lang="en-US" b="true" sz="3540">
                <a:solidFill>
                  <a:srgbClr val="545454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What is Identity Management ?</a:t>
            </a:r>
          </a:p>
          <a:p>
            <a:pPr algn="ctr">
              <a:lnSpc>
                <a:spcPts val="4956"/>
              </a:lnSpc>
            </a:pPr>
          </a:p>
        </p:txBody>
      </p:sp>
      <p:grpSp>
        <p:nvGrpSpPr>
          <p:cNvPr name="Group 18" id="18"/>
          <p:cNvGrpSpPr/>
          <p:nvPr/>
        </p:nvGrpSpPr>
        <p:grpSpPr>
          <a:xfrm rot="0">
            <a:off x="1189695" y="5705469"/>
            <a:ext cx="11426072" cy="4323474"/>
            <a:chOff x="0" y="0"/>
            <a:chExt cx="15234763" cy="5764633"/>
          </a:xfrm>
        </p:grpSpPr>
        <p:sp>
          <p:nvSpPr>
            <p:cNvPr name="TextBox 19" id="19"/>
            <p:cNvSpPr txBox="true"/>
            <p:nvPr/>
          </p:nvSpPr>
          <p:spPr>
            <a:xfrm rot="0">
              <a:off x="0" y="-76200"/>
              <a:ext cx="13403791" cy="24709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764343" indent="-382171" lvl="1">
                <a:lnSpc>
                  <a:spcPts val="4956"/>
                </a:lnSpc>
                <a:buFont typeface="Arial"/>
                <a:buChar char="•"/>
              </a:pPr>
              <a:r>
                <a:rPr lang="en-US" b="true" sz="3540">
                  <a:solidFill>
                    <a:srgbClr val="545454"/>
                  </a:solidFill>
                  <a:latin typeface="Century Gothic Paneuropean Bold"/>
                  <a:ea typeface="Century Gothic Paneuropean Bold"/>
                  <a:cs typeface="Century Gothic Paneuropean Bold"/>
                  <a:sym typeface="Century Gothic Paneuropean Bold"/>
                </a:rPr>
                <a:t>Traditional Identity Management Systems (IDMS) are centralized, leading to:</a:t>
              </a:r>
            </a:p>
            <a:p>
              <a:pPr algn="ctr">
                <a:lnSpc>
                  <a:spcPts val="4956"/>
                </a:lnSpc>
              </a:pP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720477" y="1883606"/>
              <a:ext cx="14514287" cy="38810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721164" indent="-360582" lvl="1">
                <a:lnSpc>
                  <a:spcPts val="4676"/>
                </a:lnSpc>
                <a:buFont typeface="Arial"/>
                <a:buChar char="•"/>
              </a:pPr>
              <a:r>
                <a:rPr lang="en-US" sz="3340">
                  <a:solidFill>
                    <a:srgbClr val="000000"/>
                  </a:solidFill>
                  <a:latin typeface="Century Gothic Paneuropean"/>
                  <a:ea typeface="Century Gothic Paneuropean"/>
                  <a:cs typeface="Century Gothic Paneuropean"/>
                  <a:sym typeface="Century Gothic Paneuropean"/>
                </a:rPr>
                <a:t>S</a:t>
              </a:r>
              <a:r>
                <a:rPr lang="en-US" sz="3340">
                  <a:solidFill>
                    <a:srgbClr val="000000"/>
                  </a:solidFill>
                  <a:latin typeface="Century Gothic Paneuropean"/>
                  <a:ea typeface="Century Gothic Paneuropean"/>
                  <a:cs typeface="Century Gothic Paneuropean"/>
                  <a:sym typeface="Century Gothic Paneuropean"/>
                </a:rPr>
                <a:t>ingle points of failure</a:t>
              </a:r>
            </a:p>
            <a:p>
              <a:pPr algn="l" marL="721164" indent="-360582" lvl="1">
                <a:lnSpc>
                  <a:spcPts val="4676"/>
                </a:lnSpc>
                <a:buFont typeface="Arial"/>
                <a:buChar char="•"/>
              </a:pPr>
              <a:r>
                <a:rPr lang="en-US" sz="3340">
                  <a:solidFill>
                    <a:srgbClr val="000000"/>
                  </a:solidFill>
                  <a:latin typeface="Century Gothic Paneuropean"/>
                  <a:ea typeface="Century Gothic Paneuropean"/>
                  <a:cs typeface="Century Gothic Paneuropean"/>
                  <a:sym typeface="Century Gothic Paneuropean"/>
                </a:rPr>
                <a:t>Data breaches and identity theft</a:t>
              </a:r>
            </a:p>
            <a:p>
              <a:pPr algn="l" marL="721164" indent="-360582" lvl="1">
                <a:lnSpc>
                  <a:spcPts val="4676"/>
                </a:lnSpc>
                <a:buFont typeface="Arial"/>
                <a:buChar char="•"/>
              </a:pPr>
              <a:r>
                <a:rPr lang="en-US" sz="3340">
                  <a:solidFill>
                    <a:srgbClr val="000000"/>
                  </a:solidFill>
                  <a:latin typeface="Century Gothic Paneuropean"/>
                  <a:ea typeface="Century Gothic Paneuropean"/>
                  <a:cs typeface="Century Gothic Paneuropean"/>
                  <a:sym typeface="Century Gothic Paneuropean"/>
                </a:rPr>
                <a:t>Limited user control</a:t>
              </a:r>
            </a:p>
            <a:p>
              <a:pPr algn="l">
                <a:lnSpc>
                  <a:spcPts val="4676"/>
                </a:lnSpc>
              </a:pPr>
            </a:p>
            <a:p>
              <a:pPr algn="ctr">
                <a:lnSpc>
                  <a:spcPts val="4676"/>
                </a:lnSpc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494848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2103468" y="1811319"/>
            <a:ext cx="14373810" cy="7687643"/>
          </a:xfrm>
          <a:custGeom>
            <a:avLst/>
            <a:gdLst/>
            <a:ahLst/>
            <a:cxnLst/>
            <a:rect r="r" b="b" t="t" l="l"/>
            <a:pathLst>
              <a:path h="7687643" w="14373810">
                <a:moveTo>
                  <a:pt x="0" y="0"/>
                </a:moveTo>
                <a:lnTo>
                  <a:pt x="14373811" y="0"/>
                </a:lnTo>
                <a:lnTo>
                  <a:pt x="14373811" y="7687643"/>
                </a:lnTo>
                <a:lnTo>
                  <a:pt x="0" y="76876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4168" r="0" b="-4168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14" id="14"/>
          <p:cNvSpPr txBox="true"/>
          <p:nvPr/>
        </p:nvSpPr>
        <p:spPr>
          <a:xfrm rot="0">
            <a:off x="4875411" y="111334"/>
            <a:ext cx="8537178" cy="1395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69"/>
              </a:lnSpc>
            </a:pPr>
            <a:r>
              <a:rPr lang="en-US" b="true" sz="8192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FLOWCHART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425167" y="94727"/>
            <a:ext cx="11801134" cy="2387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49"/>
              </a:lnSpc>
            </a:pPr>
            <a:r>
              <a:rPr lang="en-US" b="true" sz="6892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UNIVERSITY DIPLOMA ON BLOCKCHAIN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494848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469798" y="2789943"/>
            <a:ext cx="15249145" cy="6468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21164" indent="-360582" lvl="1">
              <a:lnSpc>
                <a:spcPts val="4676"/>
              </a:lnSpc>
              <a:buFont typeface="Arial"/>
              <a:buChar char="•"/>
            </a:pPr>
            <a:r>
              <a:rPr lang="en-US" b="true" sz="3340" strike="noStrike" u="none">
                <a:solidFill>
                  <a:srgbClr val="494848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University Issues Digital Diploma:</a:t>
            </a:r>
          </a:p>
          <a:p>
            <a:pPr algn="just" marL="0" indent="0" lvl="0">
              <a:lnSpc>
                <a:spcPts val="4676"/>
              </a:lnSpc>
              <a:spcBef>
                <a:spcPct val="0"/>
              </a:spcBef>
            </a:pPr>
            <a:r>
              <a:rPr lang="en-US" sz="3340" strike="noStrike" u="none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  </a:t>
            </a:r>
            <a:r>
              <a:rPr lang="en-US" sz="3340" strike="noStrike" u="none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University creates a cryptographically signed digital diploma and stores   it on the blockchain.</a:t>
            </a:r>
          </a:p>
          <a:p>
            <a:pPr algn="just" marL="721164" indent="-360582" lvl="1">
              <a:lnSpc>
                <a:spcPts val="4676"/>
              </a:lnSpc>
              <a:buFont typeface="Arial"/>
              <a:buChar char="•"/>
            </a:pPr>
            <a:r>
              <a:rPr lang="en-US" b="true" sz="3340" strike="noStrike" u="none">
                <a:solidFill>
                  <a:srgbClr val="494848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You Store in Your Digital Wallet:</a:t>
            </a:r>
          </a:p>
          <a:p>
            <a:pPr algn="just" marL="0" indent="0" lvl="0">
              <a:lnSpc>
                <a:spcPts val="4676"/>
              </a:lnSpc>
              <a:spcBef>
                <a:spcPct val="0"/>
              </a:spcBef>
            </a:pPr>
            <a:r>
              <a:rPr lang="en-US" sz="3340" strike="noStrike" u="none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  </a:t>
            </a:r>
            <a:r>
              <a:rPr lang="en-US" sz="3340" strike="noStrike" u="none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The diploma is securely stored in your digital wallet.</a:t>
            </a:r>
          </a:p>
          <a:p>
            <a:pPr algn="just" marL="721164" indent="-360582" lvl="1">
              <a:lnSpc>
                <a:spcPts val="4676"/>
              </a:lnSpc>
              <a:buFont typeface="Arial"/>
              <a:buChar char="•"/>
            </a:pPr>
            <a:r>
              <a:rPr lang="en-US" b="true" sz="3340" strike="noStrike" u="none">
                <a:solidFill>
                  <a:srgbClr val="494848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Sharing with Employer:</a:t>
            </a:r>
          </a:p>
          <a:p>
            <a:pPr algn="just" marL="0" indent="0" lvl="0">
              <a:lnSpc>
                <a:spcPts val="4676"/>
              </a:lnSpc>
              <a:spcBef>
                <a:spcPct val="0"/>
              </a:spcBef>
            </a:pPr>
            <a:r>
              <a:rPr lang="en-US" sz="3340" strike="noStrike" u="none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  </a:t>
            </a:r>
            <a:r>
              <a:rPr lang="en-US" sz="3340" strike="noStrike" u="none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You share the diploma directly from your wallet with the employer.</a:t>
            </a:r>
          </a:p>
          <a:p>
            <a:pPr algn="just" marL="721164" indent="-360582" lvl="1">
              <a:lnSpc>
                <a:spcPts val="4676"/>
              </a:lnSpc>
              <a:buFont typeface="Arial"/>
              <a:buChar char="•"/>
            </a:pPr>
            <a:r>
              <a:rPr lang="en-US" b="true" sz="3340" strike="noStrike" u="none">
                <a:solidFill>
                  <a:srgbClr val="494848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Employer Verifies via Blockchain:</a:t>
            </a:r>
          </a:p>
          <a:p>
            <a:pPr algn="just" marL="0" indent="0" lvl="0">
              <a:lnSpc>
                <a:spcPts val="4676"/>
              </a:lnSpc>
              <a:spcBef>
                <a:spcPct val="0"/>
              </a:spcBef>
            </a:pPr>
            <a:r>
              <a:rPr lang="en-US" sz="3340" strike="noStrike" u="none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</a:t>
            </a:r>
            <a:r>
              <a:rPr lang="en-US" sz="3340" strike="noStrike" u="none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The employer verifies the diploma’s authenticity on the blockchain without accessing your personal data.</a:t>
            </a:r>
          </a:p>
          <a:p>
            <a:pPr algn="just" marL="0" indent="0" lvl="0">
              <a:lnSpc>
                <a:spcPts val="4676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537760" y="254948"/>
            <a:ext cx="8537178" cy="1395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69"/>
              </a:lnSpc>
            </a:pPr>
            <a:r>
              <a:rPr lang="en-US" b="true" sz="8192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ADVANTAGES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933755" y="2380569"/>
            <a:ext cx="14420489" cy="6355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85932" indent="-392966" lvl="1">
              <a:lnSpc>
                <a:spcPts val="5096"/>
              </a:lnSpc>
              <a:buFont typeface="Arial"/>
              <a:buChar char="•"/>
            </a:pPr>
            <a:r>
              <a:rPr lang="en-US" b="true" sz="364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User Control</a:t>
            </a: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You own your identity, not a centralized entity.</a:t>
            </a:r>
          </a:p>
          <a:p>
            <a:pPr algn="l" marL="785932" indent="-392966" lvl="1">
              <a:lnSpc>
                <a:spcPts val="5096"/>
              </a:lnSpc>
              <a:buFont typeface="Arial"/>
              <a:buChar char="•"/>
            </a:pPr>
            <a:r>
              <a:rPr lang="en-US" b="true" sz="364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Improved Security</a:t>
            </a: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Cryptographic techniques and decentralization make data breaches harder.</a:t>
            </a:r>
          </a:p>
          <a:p>
            <a:pPr algn="l" marL="785932" indent="-392966" lvl="1">
              <a:lnSpc>
                <a:spcPts val="5096"/>
              </a:lnSpc>
              <a:buFont typeface="Arial"/>
              <a:buChar char="•"/>
            </a:pPr>
            <a:r>
              <a:rPr lang="en-US" b="true" sz="364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Privacy</a:t>
            </a: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Share only the information you want (e.g., proving your age without revealing your exact birthdate).</a:t>
            </a:r>
          </a:p>
          <a:p>
            <a:pPr algn="l" marL="785932" indent="-392966" lvl="1">
              <a:lnSpc>
                <a:spcPts val="5096"/>
              </a:lnSpc>
              <a:buFont typeface="Arial"/>
              <a:buChar char="•"/>
            </a:pPr>
            <a:r>
              <a:rPr lang="en-US" b="true" sz="364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Interoperability</a:t>
            </a: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Use the same digital identity across different platforms.</a:t>
            </a:r>
          </a:p>
          <a:p>
            <a:pPr algn="l" marL="785932" indent="-392966" lvl="1">
              <a:lnSpc>
                <a:spcPts val="5096"/>
              </a:lnSpc>
              <a:buFont typeface="Arial"/>
              <a:buChar char="•"/>
            </a:pPr>
            <a:r>
              <a:rPr lang="en-US" b="true" sz="364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Auditability</a:t>
            </a: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Every transaction is recorded on the blockchain, providing a tamper-proof log.</a:t>
            </a:r>
          </a:p>
          <a:p>
            <a:pPr algn="l">
              <a:lnSpc>
                <a:spcPts val="5096"/>
              </a:lnSpc>
            </a:pPr>
          </a:p>
        </p:txBody>
      </p:sp>
      <p:grpSp>
        <p:nvGrpSpPr>
          <p:cNvPr name="Group 4" id="4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494848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818936" y="660858"/>
            <a:ext cx="14650129" cy="13061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736"/>
              </a:lnSpc>
            </a:pPr>
            <a:r>
              <a:rPr lang="en-US" b="true" sz="7668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CHALLENGES &amp; DISAVANTAGES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818936" y="2674110"/>
            <a:ext cx="13857738" cy="6355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85932" indent="-392966" lvl="1">
              <a:lnSpc>
                <a:spcPts val="5096"/>
              </a:lnSpc>
              <a:buFont typeface="Arial"/>
              <a:buChar char="•"/>
            </a:pPr>
            <a:r>
              <a:rPr lang="en-US" b="true" sz="364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Scalability</a:t>
            </a: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As blockchain networks grow, handling large volumes of data may become slow or costly.</a:t>
            </a:r>
          </a:p>
          <a:p>
            <a:pPr algn="l" marL="785932" indent="-392966" lvl="1">
              <a:lnSpc>
                <a:spcPts val="5096"/>
              </a:lnSpc>
              <a:buFont typeface="Arial"/>
              <a:buChar char="•"/>
            </a:pPr>
            <a:r>
              <a:rPr lang="en-US" b="true" sz="364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Key Recovery</a:t>
            </a: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If you lose your private keys, you lose access to your identity (there's no central authority to help).</a:t>
            </a:r>
          </a:p>
          <a:p>
            <a:pPr algn="l" marL="785932" indent="-392966" lvl="1">
              <a:lnSpc>
                <a:spcPts val="5096"/>
              </a:lnSpc>
              <a:buFont typeface="Arial"/>
              <a:buChar char="•"/>
            </a:pPr>
            <a:r>
              <a:rPr lang="en-US" b="true" sz="364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Regulatory Issues: </a:t>
            </a: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Legal frameworks for digital identities are still developing.</a:t>
            </a:r>
          </a:p>
          <a:p>
            <a:pPr algn="l" marL="785932" indent="-392966" lvl="1">
              <a:lnSpc>
                <a:spcPts val="5096"/>
              </a:lnSpc>
              <a:buFont typeface="Arial"/>
              <a:buChar char="•"/>
            </a:pPr>
            <a:r>
              <a:rPr lang="en-US" b="true" sz="364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User Adoption: </a:t>
            </a: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Not everyone is familiar with blockchain, and it might require a steep learning curve.</a:t>
            </a:r>
          </a:p>
          <a:p>
            <a:pPr algn="l">
              <a:lnSpc>
                <a:spcPts val="5096"/>
              </a:lnSpc>
            </a:pPr>
          </a:p>
        </p:txBody>
      </p:sp>
      <p:grpSp>
        <p:nvGrpSpPr>
          <p:cNvPr name="Group 4" id="4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126763" y="336272"/>
            <a:ext cx="11823644" cy="1395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69"/>
              </a:lnSpc>
            </a:pPr>
            <a:r>
              <a:rPr lang="en-US" b="true" sz="8192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USE CASES 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569057" y="2171531"/>
            <a:ext cx="14939054" cy="7632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85932" indent="-392966" lvl="1">
              <a:lnSpc>
                <a:spcPts val="5096"/>
              </a:lnSpc>
              <a:buFont typeface="Arial"/>
              <a:buChar char="•"/>
            </a:pPr>
            <a:r>
              <a:rPr lang="en-US" b="true" sz="364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Healthcare</a:t>
            </a: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Patients manage their own medical records (e.g., COVID vaccination passports).</a:t>
            </a:r>
          </a:p>
          <a:p>
            <a:pPr algn="l" marL="785932" indent="-392966" lvl="1">
              <a:lnSpc>
                <a:spcPts val="5096"/>
              </a:lnSpc>
              <a:buFont typeface="Arial"/>
              <a:buChar char="•"/>
            </a:pPr>
            <a:r>
              <a:rPr lang="en-US" b="true" sz="364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Finance</a:t>
            </a: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Blockchain can streamline KYC (Know Your Customer) and AML (Anti-Money Laundering) checks.</a:t>
            </a:r>
          </a:p>
          <a:p>
            <a:pPr algn="l" marL="785932" indent="-392966" lvl="1">
              <a:lnSpc>
                <a:spcPts val="5096"/>
              </a:lnSpc>
              <a:buFont typeface="Arial"/>
              <a:buChar char="•"/>
            </a:pPr>
            <a:r>
              <a:rPr lang="en-US" b="true" sz="364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Education</a:t>
            </a: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Universities issue verifiable diplomas on the blockchain.</a:t>
            </a:r>
          </a:p>
          <a:p>
            <a:pPr algn="l" marL="785932" indent="-392966" lvl="1">
              <a:lnSpc>
                <a:spcPts val="5096"/>
              </a:lnSpc>
              <a:buFont typeface="Arial"/>
              <a:buChar char="•"/>
            </a:pPr>
            <a:r>
              <a:rPr lang="en-US" b="true" sz="364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Government</a:t>
            </a: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National digital IDs could be stored and verified on a blockchain.</a:t>
            </a:r>
          </a:p>
          <a:p>
            <a:pPr algn="l" marL="785932" indent="-392966" lvl="1">
              <a:lnSpc>
                <a:spcPts val="5096"/>
              </a:lnSpc>
              <a:buFont typeface="Arial"/>
              <a:buChar char="•"/>
            </a:pPr>
            <a:r>
              <a:rPr lang="en-US" b="true" sz="364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Social Impact:</a:t>
            </a: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Blockchain can help empower the unbanked and undocumented individuals by providing them with verifiable identities.</a:t>
            </a:r>
          </a:p>
          <a:p>
            <a:pPr algn="just">
              <a:lnSpc>
                <a:spcPts val="5096"/>
              </a:lnSpc>
            </a:pPr>
          </a:p>
        </p:txBody>
      </p:sp>
      <p:grpSp>
        <p:nvGrpSpPr>
          <p:cNvPr name="Group 4" id="4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152917" y="111172"/>
            <a:ext cx="9982166" cy="1333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00"/>
              </a:lnSpc>
            </a:pPr>
            <a:r>
              <a:rPr lang="en-US" b="true" sz="7786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FUTURE SCOPE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303477" y="1900340"/>
            <a:ext cx="15415466" cy="8908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85932" indent="-392966" lvl="1">
              <a:lnSpc>
                <a:spcPts val="5096"/>
              </a:lnSpc>
              <a:buFont typeface="Arial"/>
              <a:buChar char="•"/>
            </a:pPr>
            <a:r>
              <a:rPr lang="en-US" b="true" sz="364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Universal Digital IDs</a:t>
            </a: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Movement toward g</a:t>
            </a: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lobally accepted, interoperable self-sovereign identities (SSI) that work across borders and platforms.</a:t>
            </a:r>
          </a:p>
          <a:p>
            <a:pPr algn="l" marL="785932" indent="-392966" lvl="1">
              <a:lnSpc>
                <a:spcPts val="5096"/>
              </a:lnSpc>
              <a:buFont typeface="Arial"/>
              <a:buChar char="•"/>
            </a:pPr>
            <a:r>
              <a:rPr lang="en-US" b="true" sz="364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Integration with AI &amp; IoT:</a:t>
            </a: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Smart cities, connected healthcare, and intelligent devices using secure, verifiable identities for people and machines.</a:t>
            </a:r>
          </a:p>
          <a:p>
            <a:pPr algn="l" marL="785932" indent="-392966" lvl="1">
              <a:lnSpc>
                <a:spcPts val="5096"/>
              </a:lnSpc>
              <a:buFont typeface="Arial"/>
              <a:buChar char="•"/>
            </a:pPr>
            <a:r>
              <a:rPr lang="en-US" b="true" sz="3640">
                <a:solidFill>
                  <a:srgbClr val="494848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 </a:t>
            </a:r>
            <a:r>
              <a:rPr lang="en-US" b="true" sz="364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Privacy-Preserving Innovations:</a:t>
            </a: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Growth of technologies like zero-knowledge proofs (ZKPs) to verify identity without revealing personal data.</a:t>
            </a:r>
          </a:p>
          <a:p>
            <a:pPr algn="l" marL="785932" indent="-392966" lvl="1">
              <a:lnSpc>
                <a:spcPts val="5096"/>
              </a:lnSpc>
              <a:buFont typeface="Arial"/>
              <a:buChar char="•"/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</a:t>
            </a:r>
            <a:r>
              <a:rPr lang="en-US" b="true" sz="364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Legal &amp; Regulatory Frameworks: </a:t>
            </a: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Ongoing development of laws and standards to support decentralized identity adoption (e.g., GDPR-compliant SSI).</a:t>
            </a:r>
          </a:p>
          <a:p>
            <a:pPr algn="l">
              <a:lnSpc>
                <a:spcPts val="5096"/>
              </a:lnSpc>
            </a:pPr>
          </a:p>
          <a:p>
            <a:pPr algn="l">
              <a:lnSpc>
                <a:spcPts val="5096"/>
              </a:lnSpc>
            </a:pPr>
          </a:p>
        </p:txBody>
      </p:sp>
      <p:grpSp>
        <p:nvGrpSpPr>
          <p:cNvPr name="Group 4" id="4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066746" y="1138362"/>
            <a:ext cx="8537178" cy="1395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69"/>
              </a:lnSpc>
            </a:pPr>
            <a:r>
              <a:rPr lang="en-US" b="true" sz="8192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CONCLUSION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828047" y="3231403"/>
            <a:ext cx="14635331" cy="5079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85932" indent="-392966" lvl="1">
              <a:lnSpc>
                <a:spcPts val="5096"/>
              </a:lnSpc>
              <a:buFont typeface="Arial"/>
              <a:buChar char="•"/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Blockchain-based identity systems offer a more secure, private, and user-empowered way of managing identity.</a:t>
            </a:r>
          </a:p>
          <a:p>
            <a:pPr algn="l" marL="785932" indent="-392966" lvl="1">
              <a:lnSpc>
                <a:spcPts val="5096"/>
              </a:lnSpc>
              <a:buFont typeface="Arial"/>
              <a:buChar char="•"/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Challenges remain: scalability, regulation, and user education.</a:t>
            </a:r>
          </a:p>
          <a:p>
            <a:pPr algn="l" marL="785932" indent="-392966" lvl="1">
              <a:lnSpc>
                <a:spcPts val="5096"/>
              </a:lnSpc>
              <a:buFont typeface="Arial"/>
              <a:buChar char="•"/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However, with ongoing research and innovation, blockchain and Self-Sovereign Identity (SSI) have the potential to redefine how we interact with digital systems and trust.</a:t>
            </a:r>
          </a:p>
          <a:p>
            <a:pPr algn="l">
              <a:lnSpc>
                <a:spcPts val="5096"/>
              </a:lnSpc>
            </a:pPr>
          </a:p>
        </p:txBody>
      </p:sp>
      <p:grpSp>
        <p:nvGrpSpPr>
          <p:cNvPr name="Group 4" id="4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792911" y="3518127"/>
            <a:ext cx="12387037" cy="21307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481"/>
              </a:lnSpc>
            </a:pPr>
            <a:r>
              <a:rPr lang="en-US" b="true" sz="12486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THANK YOU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DAGli0goEzY</dc:identifier>
  <dcterms:modified xsi:type="dcterms:W3CDTF">2011-08-01T06:04:30Z</dcterms:modified>
  <cp:revision>1</cp:revision>
  <dc:title>Case Study</dc:title>
</cp:coreProperties>
</file>